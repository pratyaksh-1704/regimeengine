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60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2EAF4"/>
                </a:solidFill>
                <a:latin typeface="Calibri"/>
              </a:defRPr>
            </a:pPr>
            <a:r>
              <a:t>Self-Supervised Market Regime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for Risk-Aware Portfolio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A9BB5"/>
                </a:solidFill>
                <a:latin typeface="Calibri"/>
              </a:defRPr>
            </a:pPr>
            <a:r>
              <a:t>Using Temporal Convolutional Networks and Hidden Markov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303520"/>
            <a:ext cx="1280160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280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A9BB5"/>
                </a:solidFill>
                <a:latin typeface="Calibri"/>
              </a:defRPr>
            </a:pPr>
            <a:r>
              <a:rPr dirty="0"/>
              <a:t>Pratham Gupta  • </a:t>
            </a:r>
            <a:r>
              <a:rPr lang="en-US" dirty="0"/>
              <a:t>Nilesh Parija </a:t>
            </a:r>
            <a:r>
              <a:rPr lang="en-IN" dirty="0"/>
              <a:t>•</a:t>
            </a:r>
            <a:r>
              <a:rPr lang="en-US" dirty="0"/>
              <a:t> </a:t>
            </a:r>
            <a:r>
              <a:rPr lang="en-US" dirty="0" err="1"/>
              <a:t>Arkodeep</a:t>
            </a:r>
            <a:r>
              <a:rPr lang="en-US" dirty="0"/>
              <a:t> Mukhopadhyay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64008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A9BB5"/>
                </a:solidFill>
                <a:latin typeface="Calibri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Calibri"/>
              </a:defRPr>
            </a:pPr>
            <a:r>
              <a:t>📌 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280160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2EAF4"/>
                </a:solidFill>
                <a:latin typeface="Calibri"/>
              </a:defRPr>
            </a:pPr>
            <a:r>
              <a:t>Financial markets alternate between distinct behavioral regimes</a:t>
            </a:r>
          </a:p>
          <a:p>
            <a:pPr>
              <a:spcBef>
                <a:spcPts val="600"/>
              </a:spcBef>
              <a:defRPr sz="1600" b="0">
                <a:solidFill>
                  <a:srgbClr val="7A9BB5"/>
                </a:solidFill>
                <a:latin typeface="Calibri"/>
              </a:defRPr>
            </a:pPr>
            <a:endParaRPr/>
          </a:p>
          <a:p>
            <a:pPr>
              <a:spcBef>
                <a:spcPts val="600"/>
              </a:spcBef>
              <a:defRPr sz="1800" b="0">
                <a:solidFill>
                  <a:srgbClr val="22C993"/>
                </a:solidFill>
                <a:latin typeface="Calibri"/>
              </a:defRPr>
            </a:pPr>
            <a:r>
              <a:t>🟢  Risk-On: Low volatility, trending upward, suppressed correlations</a:t>
            </a:r>
          </a:p>
          <a:p>
            <a:pPr>
              <a:spcBef>
                <a:spcPts val="600"/>
              </a:spcBef>
              <a:defRPr sz="1800" b="0">
                <a:solidFill>
                  <a:srgbClr val="E8A838"/>
                </a:solidFill>
                <a:latin typeface="Calibri"/>
              </a:defRPr>
            </a:pPr>
            <a:r>
              <a:t>🟡  Defensive: Moderate volatility, uncertain direction</a:t>
            </a:r>
          </a:p>
          <a:p>
            <a:pPr>
              <a:spcBef>
                <a:spcPts val="600"/>
              </a:spcBef>
              <a:defRPr sz="1800" b="0">
                <a:solidFill>
                  <a:srgbClr val="E84040"/>
                </a:solidFill>
                <a:latin typeface="Calibri"/>
              </a:defRPr>
            </a:pPr>
            <a:r>
              <a:t>🔴  Crisis: Volatility spikes, correlations → 1, diversification collapses</a:t>
            </a:r>
          </a:p>
          <a:p>
            <a:pPr>
              <a:spcBef>
                <a:spcPts val="600"/>
              </a:spcBef>
              <a:defRPr sz="1600" b="0">
                <a:solidFill>
                  <a:srgbClr val="7A9BB5"/>
                </a:solidFill>
                <a:latin typeface="Calibri"/>
              </a:defRPr>
            </a:pPr>
            <a:endParaRPr/>
          </a:p>
          <a:p>
            <a:pPr>
              <a:spcBef>
                <a:spcPts val="600"/>
              </a:spcBef>
              <a:defRPr sz="2200" b="1">
                <a:solidFill>
                  <a:srgbClr val="E2EAF4"/>
                </a:solidFill>
                <a:latin typeface="Calibri"/>
              </a:defRPr>
            </a:pPr>
            <a:r>
              <a:t>Why is this hard?</a:t>
            </a:r>
          </a:p>
          <a:p>
            <a:pPr>
              <a:spcBef>
                <a:spcPts val="600"/>
              </a:spcBef>
              <a:defRPr sz="1600" b="0">
                <a:solidFill>
                  <a:srgbClr val="7A9BB5"/>
                </a:solidFill>
                <a:latin typeface="Calibri"/>
              </a:defRPr>
            </a:pPr>
            <a:r>
              <a:t>L1: Raw returns are too noisy for clean HMM regime separation (&lt; 5-day regimes)</a:t>
            </a:r>
          </a:p>
          <a:p>
            <a:pPr>
              <a:spcBef>
                <a:spcPts val="600"/>
              </a:spcBef>
              <a:defRPr sz="1600" b="0">
                <a:solidFill>
                  <a:srgbClr val="7A9BB5"/>
                </a:solidFill>
                <a:latin typeface="Calibri"/>
              </a:defRPr>
            </a:pPr>
            <a:r>
              <a:t>L2: Hand-crafted features require expertise and miss non-linear interactions</a:t>
            </a:r>
          </a:p>
          <a:p>
            <a:pPr>
              <a:spcBef>
                <a:spcPts val="600"/>
              </a:spcBef>
              <a:defRPr sz="1600" b="0">
                <a:solidFill>
                  <a:srgbClr val="7A9BB5"/>
                </a:solidFill>
                <a:latin typeface="Calibri"/>
              </a:defRPr>
            </a:pPr>
            <a:r>
              <a:t>L3: PCA discards non-linear manifold structure at regime boundaries</a:t>
            </a:r>
          </a:p>
          <a:p>
            <a:pPr>
              <a:spcBef>
                <a:spcPts val="600"/>
              </a:spcBef>
              <a:defRPr sz="1600" b="0">
                <a:solidFill>
                  <a:srgbClr val="7A9BB5"/>
                </a:solidFill>
                <a:latin typeface="Calibri"/>
              </a:defRPr>
            </a:pPr>
            <a:endParaRPr/>
          </a:p>
          <a:p>
            <a:pPr>
              <a:spcBef>
                <a:spcPts val="600"/>
              </a:spcBef>
              <a:defRPr sz="2000" b="1">
                <a:solidFill>
                  <a:srgbClr val="22C993"/>
                </a:solidFill>
                <a:latin typeface="Calibri"/>
              </a:defRPr>
            </a:pPr>
            <a:r>
              <a:t>💡  Key Insight: Learn a non-linear latent representation first, then detect regimes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Calibri"/>
              </a:defRPr>
            </a:pPr>
            <a:r>
              <a:t>🏗️  Proposed Framework — RegimeEngine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280160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2286000"/>
          </a:xfrm>
          <a:prstGeom prst="roundRect">
            <a:avLst/>
          </a:prstGeom>
          <a:solidFill>
            <a:srgbClr val="111C2D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  <a:latin typeface="Calibri"/>
              </a:defRPr>
            </a:pPr>
            <a:r>
              <a:t>Stage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AF4"/>
                </a:solidFill>
                <a:latin typeface="Calibri"/>
              </a:defRPr>
            </a:pPr>
            <a:r>
              <a:t>Data</a:t>
            </a:r>
            <a:br/>
            <a:r>
              <a:t>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9BB5"/>
                </a:solidFill>
                <a:latin typeface="Calibri"/>
              </a:defRPr>
            </a:pPr>
            <a:r>
              <a:t>yfinance API</a:t>
            </a:r>
            <a:br/>
            <a:r>
              <a:t>SPY, TLT, GLD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2743200"/>
            <a:ext cx="228600" cy="27432"/>
          </a:xfrm>
          <a:prstGeom prst="rect">
            <a:avLst/>
          </a:prstGeom>
          <a:solidFill>
            <a:srgbClr val="7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17520" y="1645920"/>
            <a:ext cx="2011680" cy="2286000"/>
          </a:xfrm>
          <a:prstGeom prst="roundRect">
            <a:avLst/>
          </a:prstGeom>
          <a:solidFill>
            <a:srgbClr val="111C2D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896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B8A6"/>
                </a:solidFill>
                <a:latin typeface="Calibri"/>
              </a:defRPr>
            </a:pPr>
            <a: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AF4"/>
                </a:solidFill>
                <a:latin typeface="Calibri"/>
              </a:defRPr>
            </a:pPr>
            <a:r>
              <a:t>Feature</a:t>
            </a:r>
            <a:br/>
            <a:r>
              <a:t>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9BB5"/>
                </a:solidFill>
                <a:latin typeface="Calibri"/>
              </a:defRPr>
            </a:pPr>
            <a:r>
              <a:t>Returns, Vol,</a:t>
            </a:r>
            <a:br/>
            <a:r>
              <a:t>CUSUM, Entropy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743200"/>
            <a:ext cx="228600" cy="27432"/>
          </a:xfrm>
          <a:prstGeom prst="rect">
            <a:avLst/>
          </a:prstGeom>
          <a:solidFill>
            <a:srgbClr val="7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303520" y="1645920"/>
            <a:ext cx="2011680" cy="2286000"/>
          </a:xfrm>
          <a:prstGeom prst="roundRect">
            <a:avLst/>
          </a:prstGeom>
          <a:solidFill>
            <a:srgbClr val="111C2D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94959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78BFA"/>
                </a:solidFill>
                <a:latin typeface="Calibri"/>
              </a:defRPr>
            </a:pPr>
            <a:r>
              <a:t>Stage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AF4"/>
                </a:solidFill>
                <a:latin typeface="Calibri"/>
              </a:defRPr>
            </a:pPr>
            <a:r>
              <a:t>TCN</a:t>
            </a:r>
            <a:br/>
            <a:r>
              <a:t>Encoder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9BB5"/>
                </a:solidFill>
                <a:latin typeface="Calibri"/>
              </a:defRPr>
            </a:pPr>
            <a:r>
              <a:t>Contrastive</a:t>
            </a:r>
            <a:br/>
            <a:r>
              <a:t>Self-Supervised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2743200"/>
            <a:ext cx="228600" cy="27432"/>
          </a:xfrm>
          <a:prstGeom prst="rect">
            <a:avLst/>
          </a:prstGeom>
          <a:solidFill>
            <a:srgbClr val="7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589520" y="1645920"/>
            <a:ext cx="2011680" cy="2286000"/>
          </a:xfrm>
          <a:prstGeom prst="roundRect">
            <a:avLst/>
          </a:prstGeom>
          <a:solidFill>
            <a:srgbClr val="111C2D"/>
          </a:solidFill>
          <a:ln w="2540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A838"/>
                </a:solidFill>
                <a:latin typeface="Calibri"/>
              </a:defRPr>
            </a:pPr>
            <a:r>
              <a:t>Stage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AF4"/>
                </a:solidFill>
                <a:latin typeface="Calibri"/>
              </a:defRPr>
            </a:pPr>
            <a:r>
              <a:t>Gaussian</a:t>
            </a:r>
            <a:br/>
            <a:r>
              <a:t>HMM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9BB5"/>
                </a:solidFill>
                <a:latin typeface="Calibri"/>
              </a:defRPr>
            </a:pPr>
            <a:r>
              <a:t>4 States</a:t>
            </a:r>
            <a:br/>
            <a:r>
              <a:t>10 Restarts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743200"/>
            <a:ext cx="228600" cy="27432"/>
          </a:xfrm>
          <a:prstGeom prst="rect">
            <a:avLst/>
          </a:prstGeom>
          <a:solidFill>
            <a:srgbClr val="7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875520" y="1645920"/>
            <a:ext cx="2011680" cy="2286000"/>
          </a:xfrm>
          <a:prstGeom prst="roundRect">
            <a:avLst/>
          </a:prstGeom>
          <a:solidFill>
            <a:srgbClr val="111C2D"/>
          </a:solidFill>
          <a:ln w="25400">
            <a:solidFill>
              <a:srgbClr val="E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6696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4040"/>
                </a:solidFill>
                <a:latin typeface="Calibri"/>
              </a:defRPr>
            </a:pPr>
            <a:r>
              <a:t>Stage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AF4"/>
                </a:solidFill>
                <a:latin typeface="Calibri"/>
              </a:defRPr>
            </a:pPr>
            <a:r>
              <a:t>Portfolio</a:t>
            </a:r>
            <a:br/>
            <a:r>
              <a:t>Allocator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9BB5"/>
                </a:solidFill>
                <a:latin typeface="Calibri"/>
              </a:defRPr>
            </a:pPr>
            <a:r>
              <a:t>MVO / Min-ES</a:t>
            </a:r>
            <a:br/>
            <a:r>
              <a:t>HRP / EqWt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932920" y="2743200"/>
            <a:ext cx="228600" cy="27432"/>
          </a:xfrm>
          <a:prstGeom prst="rect">
            <a:avLst/>
          </a:prstGeom>
          <a:solidFill>
            <a:srgbClr val="7A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2161520" y="1645920"/>
            <a:ext cx="2011680" cy="2286000"/>
          </a:xfrm>
          <a:prstGeom prst="roundRect">
            <a:avLst/>
          </a:prstGeom>
          <a:solidFill>
            <a:srgbClr val="111C2D"/>
          </a:solidFill>
          <a:ln w="25400">
            <a:solidFill>
              <a:srgbClr val="22C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25296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993"/>
                </a:solidFill>
                <a:latin typeface="Calibri"/>
              </a:defRPr>
            </a:pPr>
            <a:r>
              <a:t>Stage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5296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AF4"/>
                </a:solidFill>
                <a:latin typeface="Calibri"/>
              </a:defRPr>
            </a:pPr>
            <a:r>
              <a:t>Backtest &amp;</a:t>
            </a:r>
            <a:br/>
            <a:r>
              <a:t>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5296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9BB5"/>
                </a:solidFill>
                <a:latin typeface="Calibri"/>
              </a:defRPr>
            </a:pPr>
            <a:r>
              <a:t>Interactive</a:t>
            </a:r>
            <a:br/>
            <a:r>
              <a:t>Streamlit 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572000"/>
            <a:ext cx="12801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AF4"/>
                </a:solidFill>
                <a:latin typeface="Calibri"/>
              </a:defRPr>
            </a:pPr>
            <a:r>
              <a:t>Key Technical Choices:</a:t>
            </a:r>
          </a:p>
          <a:p>
            <a:pPr>
              <a:spcBef>
                <a:spcPts val="600"/>
              </a:spcBef>
              <a:defRPr sz="1500" b="0">
                <a:solidFill>
                  <a:srgbClr val="7A9BB5"/>
                </a:solidFill>
                <a:latin typeface="Calibri"/>
              </a:defRPr>
            </a:pPr>
            <a:r>
              <a:t>• TCN channels: [16, 32, 64] → 8D latent space    • Receptive field: 14 time steps</a:t>
            </a:r>
          </a:p>
          <a:p>
            <a:pPr>
              <a:spcBef>
                <a:spcPts val="600"/>
              </a:spcBef>
              <a:defRPr sz="1500" b="0">
                <a:solidFill>
                  <a:srgbClr val="7A9BB5"/>
                </a:solidFill>
                <a:latin typeface="Calibri"/>
              </a:defRPr>
            </a:pPr>
            <a:r>
              <a:t>• Contrastive loss: L = Σ[||z⁺ - z⁺'||² + max(0, m - ||z⁺ - z⁻||)²]    m = 1.0</a:t>
            </a:r>
          </a:p>
          <a:p>
            <a:pPr>
              <a:spcBef>
                <a:spcPts val="600"/>
              </a:spcBef>
              <a:defRPr sz="1500" b="0">
                <a:solidFill>
                  <a:srgbClr val="7A9BB5"/>
                </a:solidFill>
                <a:latin typeface="Calibri"/>
              </a:defRPr>
            </a:pPr>
            <a:r>
              <a:t>• HMM: 4 states, diagonal covariance, min_covar = 10⁻³, 10 EM restarts</a:t>
            </a:r>
          </a:p>
          <a:p>
            <a:pPr>
              <a:spcBef>
                <a:spcPts val="600"/>
              </a:spcBef>
              <a:defRPr sz="1500" b="0">
                <a:solidFill>
                  <a:srgbClr val="7A9BB5"/>
                </a:solidFill>
                <a:latin typeface="Calibri"/>
              </a:defRPr>
            </a:pPr>
            <a:r>
              <a:t>• Regime mapping: states sorted by realized volatility → Risk-On &lt; Defensive &lt; Transitional &lt; Crisis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📊  Dashboard — Portfolio Overview (Live Screenshot)</a:t>
            </a:r>
          </a:p>
        </p:txBody>
      </p:sp>
      <p:pic>
        <p:nvPicPr>
          <p:cNvPr id="3" name="Picture 2" descr="tab_overview_17723866517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3716000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🧮  Feature Engineering — Signals Driving the Model</a:t>
            </a:r>
          </a:p>
        </p:txBody>
      </p:sp>
      <p:pic>
        <p:nvPicPr>
          <p:cNvPr id="3" name="Picture 2" descr="tab_features_1772386680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3716000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🧠  TCN Encoder — Self-Supervised Representation Learning</a:t>
            </a:r>
          </a:p>
        </p:txBody>
      </p:sp>
      <p:pic>
        <p:nvPicPr>
          <p:cNvPr id="3" name="Picture 2" descr="tab_tcn_encoder_17723866943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3716000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🔬  HMM Regime Detection — 4 Market States</a:t>
            </a:r>
          </a:p>
        </p:txBody>
      </p:sp>
      <p:pic>
        <p:nvPicPr>
          <p:cNvPr id="3" name="Picture 2" descr="tab_hmm_regimes_17723867076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3716000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💼  Regime-Conditional Portfolio Allocation</a:t>
            </a:r>
          </a:p>
        </p:txBody>
      </p:sp>
      <p:pic>
        <p:nvPicPr>
          <p:cNvPr id="3" name="Picture 2" descr="tab_portfolio_17723867227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3716000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🤖  AI Risk Advisor — Buy / Hold / Sell</a:t>
            </a:r>
          </a:p>
        </p:txBody>
      </p:sp>
      <p:pic>
        <p:nvPicPr>
          <p:cNvPr id="3" name="Picture 2" descr="tab_advisor_1772386736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3716000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🔬  Ablation Study — Method Comparison</a:t>
            </a:r>
          </a:p>
        </p:txBody>
      </p:sp>
      <p:pic>
        <p:nvPicPr>
          <p:cNvPr id="3" name="Picture 2" descr="tab_ablation_study_17723867578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3716000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Calibri"/>
              </a:defRPr>
            </a:pPr>
            <a:r>
              <a:t>📊  Ablation Study — Quantitative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280160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12801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2EAF4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2EAF4"/>
                          </a:solidFill>
                          <a:latin typeface="Calibri"/>
                        </a:defRPr>
                      </a:pPr>
                      <a:r>
                        <a:t>Silhouette ↑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2EAF4"/>
                          </a:solidFill>
                          <a:latin typeface="Calibri"/>
                        </a:defRPr>
                      </a:pPr>
                      <a:r>
                        <a:t>CH Index ↑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2EAF4"/>
                          </a:solidFill>
                          <a:latin typeface="Calibri"/>
                        </a:defRPr>
                      </a:pPr>
                      <a:r>
                        <a:t>DB Index ↓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2EAF4"/>
                          </a:solidFill>
                          <a:latin typeface="Calibri"/>
                        </a:defRPr>
                      </a:pPr>
                      <a:r>
                        <a:t>Stability ↑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2EAF4"/>
                          </a:solidFill>
                          <a:latin typeface="Calibri"/>
                        </a:defRPr>
                      </a:pPr>
                      <a:r>
                        <a:t>Pred. Validity ↑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AF4"/>
                          </a:solidFill>
                          <a:latin typeface="Calibri"/>
                        </a:defRPr>
                      </a:pPr>
                      <a:r>
                        <a:t>M0: Raw Returns HMM</a:t>
                      </a:r>
                    </a:p>
                  </a:txBody>
                  <a:tcPr>
                    <a:solidFill>
                      <a:srgbClr val="11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AF4"/>
                          </a:solidFill>
                          <a:latin typeface="JetBrains Mono"/>
                        </a:defRPr>
                      </a:pPr>
                      <a:r>
                        <a:t>0.081</a:t>
                      </a:r>
                    </a:p>
                  </a:txBody>
                  <a:tcPr>
                    <a:solidFill>
                      <a:srgbClr val="11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AF4"/>
                          </a:solidFill>
                          <a:latin typeface="JetBrains Mono"/>
                        </a:defRPr>
                      </a:pPr>
                      <a:r>
                        <a:t>42.3</a:t>
                      </a:r>
                    </a:p>
                  </a:txBody>
                  <a:tcPr>
                    <a:solidFill>
                      <a:srgbClr val="11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AF4"/>
                          </a:solidFill>
                          <a:latin typeface="JetBrains Mono"/>
                        </a:defRPr>
                      </a:pPr>
                      <a:r>
                        <a:t>2.89</a:t>
                      </a:r>
                    </a:p>
                  </a:txBody>
                  <a:tcPr>
                    <a:solidFill>
                      <a:srgbClr val="11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AF4"/>
                          </a:solidFill>
                          <a:latin typeface="JetBrains Mono"/>
                        </a:defRPr>
                      </a:pPr>
                      <a:r>
                        <a:t>3.2 d</a:t>
                      </a:r>
                    </a:p>
                  </a:txBody>
                  <a:tcPr>
                    <a:solidFill>
                      <a:srgbClr val="11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AF4"/>
                          </a:solidFill>
                          <a:latin typeface="JetBrains Mono"/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111C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AF4"/>
                          </a:solidFill>
                          <a:latin typeface="Calibri"/>
                        </a:defRPr>
                      </a:pPr>
                      <a:r>
                        <a:t>M1: Features HMM</a:t>
                      </a:r>
                    </a:p>
                  </a:txBody>
                  <a:tcPr>
                    <a:solidFill>
                      <a:srgbClr val="11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AF4"/>
                          </a:solidFill>
                          <a:latin typeface="JetBrains Mono"/>
                        </a:defRPr>
                      </a:pPr>
                      <a:r>
                        <a:t>0.134</a:t>
                      </a:r>
                    </a:p>
                  </a:txBody>
                  <a:tcPr>
                    <a:solidFill>
                      <a:srgbClr val="11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AF4"/>
                          </a:solidFill>
                          <a:latin typeface="JetBrains Mono"/>
                        </a:defRPr>
                      </a:pPr>
                      <a:r>
                        <a:t>118.7</a:t>
                      </a:r>
                    </a:p>
                  </a:txBody>
                  <a:tcPr>
                    <a:solidFill>
                      <a:srgbClr val="11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AF4"/>
                          </a:solidFill>
                          <a:latin typeface="JetBrains Mono"/>
                        </a:defRPr>
                      </a:pPr>
                      <a:r>
                        <a:t>2.14</a:t>
                      </a:r>
                    </a:p>
                  </a:txBody>
                  <a:tcPr>
                    <a:solidFill>
                      <a:srgbClr val="11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AF4"/>
                          </a:solidFill>
                          <a:latin typeface="JetBrains Mono"/>
                        </a:defRPr>
                      </a:pPr>
                      <a:r>
                        <a:t>6.8 d</a:t>
                      </a:r>
                    </a:p>
                  </a:txBody>
                  <a:tcPr>
                    <a:solidFill>
                      <a:srgbClr val="11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AF4"/>
                          </a:solidFill>
                          <a:latin typeface="JetBrains Mono"/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111C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AF4"/>
                          </a:solidFill>
                          <a:latin typeface="Calibri"/>
                        </a:defRPr>
                      </a:pPr>
                      <a:r>
                        <a:t>M2: PCA(8d) + HMM</a:t>
                      </a:r>
                    </a:p>
                  </a:txBody>
                  <a:tcPr>
                    <a:solidFill>
                      <a:srgbClr val="11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AF4"/>
                          </a:solidFill>
                          <a:latin typeface="JetBrains Mono"/>
                        </a:defRPr>
                      </a:pPr>
                      <a:r>
                        <a:t>0.152</a:t>
                      </a:r>
                    </a:p>
                  </a:txBody>
                  <a:tcPr>
                    <a:solidFill>
                      <a:srgbClr val="11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AF4"/>
                          </a:solidFill>
                          <a:latin typeface="JetBrains Mono"/>
                        </a:defRPr>
                      </a:pPr>
                      <a:r>
                        <a:t>134.2</a:t>
                      </a:r>
                    </a:p>
                  </a:txBody>
                  <a:tcPr>
                    <a:solidFill>
                      <a:srgbClr val="11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AF4"/>
                          </a:solidFill>
                          <a:latin typeface="JetBrains Mono"/>
                        </a:defRPr>
                      </a:pPr>
                      <a:r>
                        <a:t>1.97</a:t>
                      </a:r>
                    </a:p>
                  </a:txBody>
                  <a:tcPr>
                    <a:solidFill>
                      <a:srgbClr val="11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AF4"/>
                          </a:solidFill>
                          <a:latin typeface="JetBrains Mono"/>
                        </a:defRPr>
                      </a:pPr>
                      <a:r>
                        <a:t>8.1 d</a:t>
                      </a:r>
                    </a:p>
                  </a:txBody>
                  <a:tcPr>
                    <a:solidFill>
                      <a:srgbClr val="11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AF4"/>
                          </a:solidFill>
                          <a:latin typeface="JetBrains Mono"/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111C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C993"/>
                          </a:solidFill>
                          <a:latin typeface="Calibri"/>
                        </a:defRPr>
                      </a:pPr>
                      <a:r>
                        <a:t>M3: TCN + HMM (Ours)</a:t>
                      </a:r>
                    </a:p>
                  </a:txBody>
                  <a:tcPr>
                    <a:solidFill>
                      <a:srgbClr val="012E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C993"/>
                          </a:solidFill>
                          <a:latin typeface="JetBrains Mono"/>
                        </a:defRPr>
                      </a:pPr>
                      <a:r>
                        <a:t>0.203</a:t>
                      </a:r>
                    </a:p>
                  </a:txBody>
                  <a:tcPr>
                    <a:solidFill>
                      <a:srgbClr val="012E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C993"/>
                          </a:solidFill>
                          <a:latin typeface="JetBrains Mono"/>
                        </a:defRPr>
                      </a:pPr>
                      <a:r>
                        <a:t>186.4</a:t>
                      </a:r>
                    </a:p>
                  </a:txBody>
                  <a:tcPr>
                    <a:solidFill>
                      <a:srgbClr val="012E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C993"/>
                          </a:solidFill>
                          <a:latin typeface="JetBrains Mono"/>
                        </a:defRPr>
                      </a:pPr>
                      <a:r>
                        <a:t>1.52</a:t>
                      </a:r>
                    </a:p>
                  </a:txBody>
                  <a:tcPr>
                    <a:solidFill>
                      <a:srgbClr val="012E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C993"/>
                          </a:solidFill>
                          <a:latin typeface="JetBrains Mono"/>
                        </a:defRPr>
                      </a:pPr>
                      <a:r>
                        <a:t>14.6 d</a:t>
                      </a:r>
                    </a:p>
                  </a:txBody>
                  <a:tcPr>
                    <a:solidFill>
                      <a:srgbClr val="012E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C993"/>
                          </a:solidFill>
                          <a:latin typeface="JetBrains Mono"/>
                        </a:defRPr>
                      </a:pPr>
                      <a:r>
                        <a:t>0.52</a:t>
                      </a:r>
                    </a:p>
                  </a:txBody>
                  <a:tcPr>
                    <a:solidFill>
                      <a:srgbClr val="012E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754880"/>
            <a:ext cx="12801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2EAF4"/>
                </a:solidFill>
                <a:latin typeface="Calibri"/>
              </a:defRPr>
            </a:pPr>
            <a:r>
              <a:t>Key Findings:</a:t>
            </a:r>
          </a:p>
          <a:p>
            <a:pPr>
              <a:spcBef>
                <a:spcPts val="600"/>
              </a:spcBef>
              <a:defRPr sz="1600" b="0">
                <a:solidFill>
                  <a:srgbClr val="22C993"/>
                </a:solidFill>
                <a:latin typeface="Calibri"/>
              </a:defRPr>
            </a:pPr>
            <a:r>
              <a:t>✅  TCN+HMM (M3) wins on ALL 5 metrics — strongest evidence for the contribution of learned representations</a:t>
            </a:r>
          </a:p>
          <a:p>
            <a:pPr>
              <a:spcBef>
                <a:spcPts val="600"/>
              </a:spcBef>
              <a:defRPr sz="1500" b="0">
                <a:solidFill>
                  <a:srgbClr val="7A9BB5"/>
                </a:solidFill>
                <a:latin typeface="Calibri"/>
              </a:defRPr>
            </a:pPr>
            <a:r>
              <a:t>📈  Silhouette: +33.6% over PCA baseline, +150.6% over raw returns</a:t>
            </a:r>
          </a:p>
          <a:p>
            <a:pPr>
              <a:spcBef>
                <a:spcPts val="600"/>
              </a:spcBef>
              <a:defRPr sz="1500" b="0">
                <a:solidFill>
                  <a:srgbClr val="7A9BB5"/>
                </a:solidFill>
                <a:latin typeface="Calibri"/>
              </a:defRPr>
            </a:pPr>
            <a:r>
              <a:t>📈  Stability: 14.6 days (M3) vs 8.1 days (M2) vs 3.2 days (M0) — only M3 produces tradeable regimes</a:t>
            </a:r>
          </a:p>
          <a:p>
            <a:pPr>
              <a:spcBef>
                <a:spcPts val="600"/>
              </a:spcBef>
              <a:defRPr sz="1500" b="0">
                <a:solidFill>
                  <a:srgbClr val="7A9BB5"/>
                </a:solidFill>
                <a:latin typeface="Calibri"/>
              </a:defRPr>
            </a:pPr>
            <a:r>
              <a:t>📈  Predictive Validity: ρ = 0.52 confirms regimes predict future volatility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Calibri"/>
              </a:defRPr>
            </a:pPr>
            <a:r>
              <a:t>⚙️  Technical Architecture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280160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5943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Calibri"/>
              </a:defRPr>
            </a:pPr>
            <a:r>
              <a:t>TCN Encoder</a:t>
            </a:r>
          </a:p>
          <a:p>
            <a:pPr>
              <a:spcBef>
                <a:spcPts val="600"/>
              </a:spcBef>
              <a:defRPr sz="1400" b="0">
                <a:solidFill>
                  <a:srgbClr val="7A9BB5"/>
                </a:solidFill>
                <a:latin typeface="Calibri"/>
              </a:defRPr>
            </a:pPr>
            <a:r>
              <a:t>Input: 21-day window × d features</a:t>
            </a:r>
          </a:p>
          <a:p>
            <a:pPr>
              <a:spcBef>
                <a:spcPts val="600"/>
              </a:spcBef>
              <a:defRPr sz="1400" b="0">
                <a:solidFill>
                  <a:srgbClr val="7A9BB5"/>
                </a:solidFill>
                <a:latin typeface="Calibri"/>
              </a:defRPr>
            </a:pPr>
            <a:r>
              <a:t>Block 1: Conv1D(d→16), dilation=1, ReLU, Dropout</a:t>
            </a:r>
          </a:p>
          <a:p>
            <a:pPr>
              <a:spcBef>
                <a:spcPts val="600"/>
              </a:spcBef>
              <a:defRPr sz="1400" b="0">
                <a:solidFill>
                  <a:srgbClr val="7A9BB5"/>
                </a:solidFill>
                <a:latin typeface="Calibri"/>
              </a:defRPr>
            </a:pPr>
            <a:r>
              <a:t>Block 2: Conv1D(16→32), dilation=2, ReLU, Dropout</a:t>
            </a:r>
          </a:p>
          <a:p>
            <a:pPr>
              <a:spcBef>
                <a:spcPts val="600"/>
              </a:spcBef>
              <a:defRPr sz="1400" b="0">
                <a:solidFill>
                  <a:srgbClr val="7A9BB5"/>
                </a:solidFill>
                <a:latin typeface="Calibri"/>
              </a:defRPr>
            </a:pPr>
            <a:r>
              <a:t>Block 3: Conv1D(32→64), dilation=4, ReLU, Dropout</a:t>
            </a:r>
          </a:p>
          <a:p>
            <a:pPr>
              <a:spcBef>
                <a:spcPts val="600"/>
              </a:spcBef>
              <a:defRPr sz="1400" b="0">
                <a:solidFill>
                  <a:srgbClr val="7A9BB5"/>
                </a:solidFill>
                <a:latin typeface="Calibri"/>
              </a:defRPr>
            </a:pPr>
            <a:r>
              <a:t>Output: Linear(64→8) → z_t ∈ ℝ⁸</a:t>
            </a:r>
          </a:p>
          <a:p>
            <a:pPr>
              <a:spcBef>
                <a:spcPts val="600"/>
              </a:spcBef>
              <a:defRPr sz="1600" b="0">
                <a:solidFill>
                  <a:srgbClr val="7A9BB5"/>
                </a:solidFill>
                <a:latin typeface="Calibri"/>
              </a:defRPr>
            </a:pPr>
            <a:endParaRPr/>
          </a:p>
          <a:p>
            <a:pPr>
              <a:spcBef>
                <a:spcPts val="600"/>
              </a:spcBef>
              <a:defRPr sz="1800" b="1">
                <a:solidFill>
                  <a:srgbClr val="E2EAF4"/>
                </a:solidFill>
                <a:latin typeface="Calibri"/>
              </a:defRPr>
            </a:pPr>
            <a:r>
              <a:t>Training: Contrastive Loss</a:t>
            </a:r>
          </a:p>
          <a:p>
            <a:pPr>
              <a:spcBef>
                <a:spcPts val="600"/>
              </a:spcBef>
              <a:defRPr sz="1400" b="0">
                <a:solidFill>
                  <a:srgbClr val="7A9BB5"/>
                </a:solidFill>
                <a:latin typeface="Calibri"/>
              </a:defRPr>
            </a:pPr>
            <a:r>
              <a:t>Positive pairs: temporally adjacent windows</a:t>
            </a:r>
          </a:p>
          <a:p>
            <a:pPr>
              <a:spcBef>
                <a:spcPts val="600"/>
              </a:spcBef>
              <a:defRPr sz="1400" b="0">
                <a:solidFill>
                  <a:srgbClr val="7A9BB5"/>
                </a:solidFill>
                <a:latin typeface="Calibri"/>
              </a:defRPr>
            </a:pPr>
            <a:r>
              <a:t>Negative pairs: batch-rolled (circular shift)</a:t>
            </a:r>
          </a:p>
          <a:p>
            <a:pPr>
              <a:spcBef>
                <a:spcPts val="600"/>
              </a:spcBef>
              <a:defRPr sz="1400" b="0">
                <a:solidFill>
                  <a:srgbClr val="7A9BB5"/>
                </a:solidFill>
                <a:latin typeface="Calibri"/>
              </a:defRPr>
            </a:pPr>
            <a:r>
              <a:t>Margin: m = 1.0</a:t>
            </a:r>
          </a:p>
          <a:p>
            <a:pPr>
              <a:spcBef>
                <a:spcPts val="600"/>
              </a:spcBef>
              <a:defRPr sz="1400" b="0">
                <a:solidFill>
                  <a:srgbClr val="7A9BB5"/>
                </a:solidFill>
                <a:latin typeface="Calibri"/>
              </a:defRPr>
            </a:pPr>
            <a:r>
              <a:t>Optimizer: Adam, lr = 10⁻³</a:t>
            </a:r>
          </a:p>
          <a:p>
            <a:pPr>
              <a:spcBef>
                <a:spcPts val="600"/>
              </a:spcBef>
              <a:defRPr sz="1400" b="0">
                <a:solidFill>
                  <a:srgbClr val="7A9BB5"/>
                </a:solidFill>
                <a:latin typeface="Calibri"/>
              </a:defRPr>
            </a:pPr>
            <a:r>
              <a:t>Epochs: 50, Batch size: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463040"/>
            <a:ext cx="5943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A838"/>
                </a:solidFill>
                <a:latin typeface="Calibri"/>
              </a:defRPr>
            </a:pPr>
            <a:r>
              <a:t>Gaussian HMM</a:t>
            </a:r>
          </a:p>
          <a:p>
            <a:pPr>
              <a:spcBef>
                <a:spcPts val="600"/>
              </a:spcBef>
              <a:defRPr sz="1400" b="0">
                <a:solidFill>
                  <a:srgbClr val="7A9BB5"/>
                </a:solidFill>
                <a:latin typeface="Calibri"/>
              </a:defRPr>
            </a:pPr>
            <a:r>
              <a:t>States: K = 4 (Risk-On, Defensive,</a:t>
            </a:r>
          </a:p>
          <a:p>
            <a:pPr>
              <a:spcBef>
                <a:spcPts val="600"/>
              </a:spcBef>
              <a:defRPr sz="1400" b="0">
                <a:solidFill>
                  <a:srgbClr val="7A9BB5"/>
                </a:solidFill>
                <a:latin typeface="Calibri"/>
              </a:defRPr>
            </a:pPr>
            <a:r>
              <a:t>         Transitional, Crisis)</a:t>
            </a:r>
          </a:p>
          <a:p>
            <a:pPr>
              <a:spcBef>
                <a:spcPts val="600"/>
              </a:spcBef>
              <a:defRPr sz="1400" b="0">
                <a:solidFill>
                  <a:srgbClr val="7A9BB5"/>
                </a:solidFill>
                <a:latin typeface="Calibri"/>
              </a:defRPr>
            </a:pPr>
            <a:r>
              <a:t>Covariance: Diagonal</a:t>
            </a:r>
          </a:p>
          <a:p>
            <a:pPr>
              <a:spcBef>
                <a:spcPts val="600"/>
              </a:spcBef>
              <a:defRPr sz="1400" b="0">
                <a:solidFill>
                  <a:srgbClr val="7A9BB5"/>
                </a:solidFill>
                <a:latin typeface="Calibri"/>
              </a:defRPr>
            </a:pPr>
            <a:r>
              <a:t>Min covariance: 10⁻³ (floor)</a:t>
            </a:r>
          </a:p>
          <a:p>
            <a:pPr>
              <a:spcBef>
                <a:spcPts val="600"/>
              </a:spcBef>
              <a:defRPr sz="1400" b="0">
                <a:solidFill>
                  <a:srgbClr val="7A9BB5"/>
                </a:solidFill>
                <a:latin typeface="Calibri"/>
              </a:defRPr>
            </a:pPr>
            <a:r>
              <a:t>EM restarts: 10 random seeds</a:t>
            </a:r>
          </a:p>
          <a:p>
            <a:pPr>
              <a:spcBef>
                <a:spcPts val="600"/>
              </a:spcBef>
              <a:defRPr sz="1400" b="0">
                <a:solidFill>
                  <a:srgbClr val="7A9BB5"/>
                </a:solidFill>
                <a:latin typeface="Calibri"/>
              </a:defRPr>
            </a:pPr>
            <a:r>
              <a:t>Selection: max log-likelihood</a:t>
            </a:r>
          </a:p>
          <a:p>
            <a:pPr>
              <a:spcBef>
                <a:spcPts val="600"/>
              </a:spcBef>
              <a:defRPr sz="1600" b="0">
                <a:solidFill>
                  <a:srgbClr val="7A9BB5"/>
                </a:solidFill>
                <a:latin typeface="Calibri"/>
              </a:defRPr>
            </a:pPr>
            <a:endParaRPr/>
          </a:p>
          <a:p>
            <a:pPr>
              <a:spcBef>
                <a:spcPts val="600"/>
              </a:spcBef>
              <a:defRPr sz="1800" b="1">
                <a:solidFill>
                  <a:srgbClr val="E2EAF4"/>
                </a:solidFill>
                <a:latin typeface="Calibri"/>
              </a:defRPr>
            </a:pPr>
            <a:r>
              <a:t>Portfolio Strategy Mapping</a:t>
            </a:r>
          </a:p>
          <a:p>
            <a:pPr>
              <a:spcBef>
                <a:spcPts val="600"/>
              </a:spcBef>
              <a:defRPr sz="1400" b="0">
                <a:solidFill>
                  <a:srgbClr val="22C993"/>
                </a:solidFill>
                <a:latin typeface="Calibri"/>
              </a:defRPr>
            </a:pPr>
            <a:r>
              <a:t>Risk-On → MVO (γ = 3.0)</a:t>
            </a:r>
          </a:p>
          <a:p>
            <a:pPr>
              <a:spcBef>
                <a:spcPts val="600"/>
              </a:spcBef>
              <a:defRPr sz="1400" b="0">
                <a:solidFill>
                  <a:srgbClr val="3B82F6"/>
                </a:solidFill>
                <a:latin typeface="Calibri"/>
              </a:defRPr>
            </a:pPr>
            <a:r>
              <a:t>Defensive → Min-ES (α = 5%)</a:t>
            </a:r>
          </a:p>
          <a:p>
            <a:pPr>
              <a:spcBef>
                <a:spcPts val="600"/>
              </a:spcBef>
              <a:defRPr sz="1400" b="0">
                <a:solidFill>
                  <a:srgbClr val="E8A838"/>
                </a:solidFill>
                <a:latin typeface="Calibri"/>
              </a:defRPr>
            </a:pPr>
            <a:r>
              <a:t>Transitional → Equal Weight</a:t>
            </a:r>
          </a:p>
          <a:p>
            <a:pPr>
              <a:spcBef>
                <a:spcPts val="600"/>
              </a:spcBef>
              <a:defRPr sz="1400" b="0">
                <a:solidFill>
                  <a:srgbClr val="E84040"/>
                </a:solidFill>
                <a:latin typeface="Calibri"/>
              </a:defRPr>
            </a:pPr>
            <a:r>
              <a:t>Crisis → HRP (no Σ⁻¹ needed)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Calibri"/>
              </a:defRPr>
            </a:pPr>
            <a:r>
              <a:t>🎯  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280160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2EAF4"/>
                </a:solidFill>
                <a:latin typeface="Calibri"/>
              </a:defRPr>
            </a:pPr>
            <a:r>
              <a:t>Key Contributions</a:t>
            </a:r>
          </a:p>
          <a:p>
            <a:pPr>
              <a:spcBef>
                <a:spcPts val="600"/>
              </a:spcBef>
              <a:defRPr sz="1600" b="0">
                <a:solidFill>
                  <a:srgbClr val="7A9BB5"/>
                </a:solidFill>
                <a:latin typeface="Calibri"/>
              </a:defRPr>
            </a:pPr>
            <a:endParaRPr/>
          </a:p>
          <a:p>
            <a:pPr>
              <a:spcBef>
                <a:spcPts val="600"/>
              </a:spcBef>
              <a:defRPr sz="1800" b="0">
                <a:solidFill>
                  <a:srgbClr val="22C993"/>
                </a:solidFill>
                <a:latin typeface="Calibri"/>
              </a:defRPr>
            </a:pPr>
            <a:r>
              <a:t>1.  Contrastive TCN learns regime-discriminative embeddings without labels</a:t>
            </a:r>
          </a:p>
          <a:p>
            <a:pPr>
              <a:spcBef>
                <a:spcPts val="600"/>
              </a:spcBef>
              <a:defRPr sz="1800" b="0">
                <a:solidFill>
                  <a:srgbClr val="22C993"/>
                </a:solidFill>
                <a:latin typeface="Calibri"/>
              </a:defRPr>
            </a:pPr>
            <a:r>
              <a:t>2.  Robust HMM pipeline (normalization + multi-restart) on learned latent space</a:t>
            </a:r>
          </a:p>
          <a:p>
            <a:pPr>
              <a:spcBef>
                <a:spcPts val="600"/>
              </a:spcBef>
              <a:defRPr sz="1800" b="0">
                <a:solidFill>
                  <a:srgbClr val="22C993"/>
                </a:solidFill>
                <a:latin typeface="Calibri"/>
              </a:defRPr>
            </a:pPr>
            <a:r>
              <a:t>3.  Regime-conditional portfolio allocation switching between 4 strategies</a:t>
            </a:r>
          </a:p>
          <a:p>
            <a:pPr>
              <a:spcBef>
                <a:spcPts val="600"/>
              </a:spcBef>
              <a:defRPr sz="1800" b="0">
                <a:solidFill>
                  <a:srgbClr val="22C993"/>
                </a:solidFill>
                <a:latin typeface="Calibri"/>
              </a:defRPr>
            </a:pPr>
            <a:r>
              <a:t>4.  Ablation study proves TCN representation superiority across 5 metrics</a:t>
            </a:r>
          </a:p>
          <a:p>
            <a:pPr>
              <a:spcBef>
                <a:spcPts val="600"/>
              </a:spcBef>
              <a:defRPr sz="1800" b="0">
                <a:solidFill>
                  <a:srgbClr val="22C993"/>
                </a:solidFill>
                <a:latin typeface="Calibri"/>
              </a:defRPr>
            </a:pPr>
            <a:r>
              <a:t>5.  Open-source Streamlit dashboard with 7 interactive analysis tabs</a:t>
            </a:r>
          </a:p>
          <a:p>
            <a:pPr>
              <a:spcBef>
                <a:spcPts val="600"/>
              </a:spcBef>
              <a:defRPr sz="1600" b="0">
                <a:solidFill>
                  <a:srgbClr val="7A9BB5"/>
                </a:solidFill>
                <a:latin typeface="Calibri"/>
              </a:defRPr>
            </a:pPr>
            <a:endParaRPr/>
          </a:p>
          <a:p>
            <a:pPr>
              <a:spcBef>
                <a:spcPts val="600"/>
              </a:spcBef>
              <a:defRPr sz="2400" b="1">
                <a:solidFill>
                  <a:srgbClr val="E2EAF4"/>
                </a:solidFill>
                <a:latin typeface="Calibri"/>
              </a:defRPr>
            </a:pPr>
            <a:r>
              <a:t>Future Directions</a:t>
            </a:r>
          </a:p>
          <a:p>
            <a:pPr>
              <a:spcBef>
                <a:spcPts val="600"/>
              </a:spcBef>
              <a:defRPr sz="1600" b="0">
                <a:solidFill>
                  <a:srgbClr val="7A9BB5"/>
                </a:solidFill>
                <a:latin typeface="Calibri"/>
              </a:defRPr>
            </a:pPr>
            <a:r>
              <a:t>•  Alternative contrastive objectives: InfoNCE, TS2Vec</a:t>
            </a:r>
          </a:p>
          <a:p>
            <a:pPr>
              <a:spcBef>
                <a:spcPts val="600"/>
              </a:spcBef>
              <a:defRPr sz="1600" b="0">
                <a:solidFill>
                  <a:srgbClr val="7A9BB5"/>
                </a:solidFill>
                <a:latin typeface="Calibri"/>
              </a:defRPr>
            </a:pPr>
            <a:r>
              <a:t>•  Transformer-based encoders for longer-range dependencies</a:t>
            </a:r>
          </a:p>
          <a:p>
            <a:pPr>
              <a:spcBef>
                <a:spcPts val="600"/>
              </a:spcBef>
              <a:defRPr sz="1600" b="0">
                <a:solidFill>
                  <a:srgbClr val="7A9BB5"/>
                </a:solidFill>
                <a:latin typeface="Calibri"/>
              </a:defRPr>
            </a:pPr>
            <a:r>
              <a:t>•  Non-parametric Bayesian HMMs for automatic regime count</a:t>
            </a:r>
          </a:p>
          <a:p>
            <a:pPr>
              <a:spcBef>
                <a:spcPts val="600"/>
              </a:spcBef>
              <a:defRPr sz="1600" b="0">
                <a:solidFill>
                  <a:srgbClr val="7A9BB5"/>
                </a:solidFill>
                <a:latin typeface="Calibri"/>
              </a:defRPr>
            </a:pPr>
            <a:r>
              <a:t>•  Online/streaming variants for real-time deployment</a:t>
            </a:r>
          </a:p>
          <a:p>
            <a:pPr>
              <a:spcBef>
                <a:spcPts val="600"/>
              </a:spcBef>
              <a:defRPr sz="1600" b="0">
                <a:solidFill>
                  <a:srgbClr val="7A9BB5"/>
                </a:solidFill>
                <a:latin typeface="Calibri"/>
              </a:defRPr>
            </a:pPr>
            <a:r>
              <a:t>•  Extension to intraday data and alternative asset classes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E2EAF4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B82F6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0"/>
            <a:ext cx="1280160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A9BB5"/>
                </a:solidFill>
                <a:latin typeface="Calibri"/>
              </a:defRPr>
            </a:pPr>
            <a:r>
              <a:t>RegimeEngine  •  Self-Supervised Market Regime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A9BB5"/>
                </a:solidFill>
                <a:latin typeface="Calibri"/>
              </a:defRPr>
            </a:pPr>
            <a:r>
              <a:t>Pratham Gupta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794</Words>
  <Application>Microsoft Office PowerPoint</Application>
  <PresentationFormat>Custom</PresentationFormat>
  <Paragraphs>131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Pratyaksh Gupta</cp:lastModifiedBy>
  <cp:revision>2</cp:revision>
  <dcterms:created xsi:type="dcterms:W3CDTF">2013-01-27T09:14:16Z</dcterms:created>
  <dcterms:modified xsi:type="dcterms:W3CDTF">2026-03-01T17:51:07Z</dcterms:modified>
  <cp:category/>
</cp:coreProperties>
</file>